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11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9672"/>
            <a:ext cx="11173968" cy="0"/>
          </a:xfrm>
          <a:prstGeom prst="line">
            <a:avLst/>
          </a:prstGeom>
          <a:noFill/>
          <a:ln w="10160">
            <a:solidFill>
              <a:srgbClr val="DDE2D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56539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10" kern="0" dirty="0">
                <a:solidFill>
                  <a:srgbClr val="6471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MEETUP PROJECT  /  UX · UI · FRONTEND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16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16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384048"/>
            <a:ext cx="2423160" cy="301752"/>
          </a:xfrm>
          <a:prstGeom prst="roundRect">
            <a:avLst>
              <a:gd name="adj" fmla="val 39394"/>
            </a:avLst>
          </a:prstGeom>
          <a:solidFill>
            <a:srgbClr val="FCE9E3"/>
          </a:solidFill>
          <a:ln w="12700">
            <a:solidFill>
              <a:srgbClr val="FCE9E3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68096" y="397764"/>
            <a:ext cx="22037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spc="120" kern="0" dirty="0">
                <a:solidFill>
                  <a:srgbClr val="A942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ФИНАЛЬНЫЙ УЧЕБНЫЙ ПРОЕКТ</a:t>
            </a:r>
            <a:endParaRPr lang="en-US" sz="86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932688"/>
            <a:ext cx="5303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1826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Meetup</a:t>
            </a:r>
            <a:endParaRPr lang="en-US" sz="3700" dirty="0"/>
          </a:p>
          <a:p>
            <a:pPr algn="l" indent="0" marL="0">
              <a:buNone/>
            </a:pPr>
            <a:r>
              <a:rPr lang="en-US" sz="3700" b="1" dirty="0">
                <a:solidFill>
                  <a:srgbClr val="1826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</a:t>
            </a:r>
            <a:endParaRPr lang="en-US" sz="3700" dirty="0"/>
          </a:p>
        </p:txBody>
      </p:sp>
      <p:sp>
        <p:nvSpPr>
          <p:cNvPr id="5" name="Text 3"/>
          <p:cNvSpPr txBox="1"/>
          <p:nvPr/>
        </p:nvSpPr>
        <p:spPr>
          <a:xfrm>
            <a:off x="676656" y="2395728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C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Адаптивный сайт для поиска событий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5E6C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 людей с похожими интересами.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" y="3401568"/>
            <a:ext cx="4983480" cy="1499616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0160">
            <a:solidFill>
              <a:srgbClr val="DCE2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3675888"/>
            <a:ext cx="329184" cy="329184"/>
          </a:xfrm>
          <a:prstGeom prst="ellipse">
            <a:avLst/>
          </a:prstGeom>
          <a:solidFill>
            <a:srgbClr val="008894"/>
          </a:solidFill>
          <a:ln w="12700">
            <a:solidFill>
              <a:srgbClr val="008894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23544" y="3712464"/>
            <a:ext cx="274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389888" y="3639312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82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Главная страница</a:t>
            </a:r>
            <a:endParaRPr lang="en-US" sz="1320" dirty="0"/>
          </a:p>
        </p:txBody>
      </p:sp>
      <p:sp>
        <p:nvSpPr>
          <p:cNvPr id="10" name="Text 8"/>
          <p:cNvSpPr txBox="1"/>
          <p:nvPr/>
        </p:nvSpPr>
        <p:spPr>
          <a:xfrm>
            <a:off x="1389888" y="394106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6C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Знакомство с платформой, категории и идеи для встреч.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896112" y="4352544"/>
            <a:ext cx="329184" cy="329184"/>
          </a:xfrm>
          <a:prstGeom prst="ellipse">
            <a:avLst/>
          </a:prstGeom>
          <a:solidFill>
            <a:srgbClr val="F65D5D"/>
          </a:solidFill>
          <a:ln w="12700">
            <a:solidFill>
              <a:srgbClr val="F65D5D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23544" y="4389120"/>
            <a:ext cx="274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389888" y="4315968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82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Страница Events</a:t>
            </a:r>
            <a:endParaRPr lang="en-US" sz="1320" dirty="0"/>
          </a:p>
        </p:txBody>
      </p:sp>
      <p:sp>
        <p:nvSpPr>
          <p:cNvPr id="14" name="Text 12"/>
          <p:cNvSpPr txBox="1"/>
          <p:nvPr/>
        </p:nvSpPr>
        <p:spPr>
          <a:xfrm>
            <a:off x="1389888" y="4617720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6C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Карточки мероприятий и фильтры по параметрам.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76656" y="5193792"/>
            <a:ext cx="713232" cy="310896"/>
          </a:xfrm>
          <a:prstGeom prst="roundRect">
            <a:avLst>
              <a:gd name="adj" fmla="val 38235"/>
            </a:avLst>
          </a:prstGeom>
          <a:solidFill>
            <a:srgbClr val="E0F1F0"/>
          </a:solidFill>
          <a:ln w="12700">
            <a:solidFill>
              <a:srgbClr val="E0F1F0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8096" y="5202936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481328" y="5193792"/>
            <a:ext cx="640080" cy="310896"/>
          </a:xfrm>
          <a:prstGeom prst="roundRect">
            <a:avLst>
              <a:gd name="adj" fmla="val 38235"/>
            </a:avLst>
          </a:prstGeom>
          <a:solidFill>
            <a:srgbClr val="FCE9E3"/>
          </a:solidFill>
          <a:ln w="12700">
            <a:solidFill>
              <a:srgbClr val="FCE9E3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572768" y="52029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942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12848" y="5193792"/>
            <a:ext cx="1078992" cy="310896"/>
          </a:xfrm>
          <a:prstGeom prst="roundRect">
            <a:avLst>
              <a:gd name="adj" fmla="val 38235"/>
            </a:avLst>
          </a:prstGeom>
          <a:solidFill>
            <a:srgbClr val="FFF3C8"/>
          </a:solidFill>
          <a:ln w="12700">
            <a:solidFill>
              <a:srgbClr val="FFF3C8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304288" y="5202936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E62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JavaScript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83280" y="5193792"/>
            <a:ext cx="850392" cy="310896"/>
          </a:xfrm>
          <a:prstGeom prst="roundRect">
            <a:avLst>
              <a:gd name="adj" fmla="val 38235"/>
            </a:avLst>
          </a:prstGeom>
          <a:solidFill>
            <a:srgbClr val="E9E4F9"/>
          </a:solidFill>
          <a:ln w="12700">
            <a:solidFill>
              <a:srgbClr val="E9E4F9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74720" y="5202936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A4B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80760" y="1097280"/>
            <a:ext cx="5440680" cy="4526280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15240">
            <a:solidFill>
              <a:srgbClr val="D4DEDB"/>
            </a:solidFill>
            <a:prstDash val="solid"/>
          </a:ln>
          <a:effectLst>
            <a:outerShdw sx="100000" sy="100000" kx="0" ky="0" algn="bl" rotWithShape="0" blurRad="25400" dist="50800" dir="2700000">
              <a:srgbClr val="53635F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80760" y="1097280"/>
            <a:ext cx="5440680" cy="429768"/>
          </a:xfrm>
          <a:prstGeom prst="roundRect">
            <a:avLst>
              <a:gd name="adj" fmla="val 42553"/>
            </a:avLst>
          </a:prstGeom>
          <a:solidFill>
            <a:srgbClr val="F0F3F2"/>
          </a:solidFill>
          <a:ln w="12700">
            <a:solidFill>
              <a:srgbClr val="F0F3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80760" y="1335024"/>
            <a:ext cx="5440680" cy="182880"/>
          </a:xfrm>
          <a:prstGeom prst="rect">
            <a:avLst/>
          </a:prstGeom>
          <a:solidFill>
            <a:srgbClr val="F0F3F2"/>
          </a:solidFill>
          <a:ln w="12700">
            <a:solidFill>
              <a:srgbClr val="F0F3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18504" y="1252728"/>
            <a:ext cx="91440" cy="91440"/>
          </a:xfrm>
          <a:prstGeom prst="ellipse">
            <a:avLst/>
          </a:prstGeom>
          <a:solidFill>
            <a:srgbClr val="F65D5D"/>
          </a:solidFill>
          <a:ln w="12700">
            <a:solidFill>
              <a:srgbClr val="F65D5D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73952" y="1252728"/>
            <a:ext cx="91440" cy="91440"/>
          </a:xfrm>
          <a:prstGeom prst="ellipse">
            <a:avLst/>
          </a:prstGeom>
          <a:solidFill>
            <a:srgbClr val="F7D25C"/>
          </a:solidFill>
          <a:ln w="12700">
            <a:solidFill>
              <a:srgbClr val="F7D25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29400" y="1252728"/>
            <a:ext cx="91440" cy="91440"/>
          </a:xfrm>
          <a:prstGeom prst="ellipse">
            <a:avLst/>
          </a:prstGeom>
          <a:solidFill>
            <a:srgbClr val="008894"/>
          </a:solidFill>
          <a:ln w="12700">
            <a:solidFill>
              <a:srgbClr val="008894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43216" y="1197864"/>
            <a:ext cx="2788920" cy="210312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12700">
            <a:solidFill>
              <a:srgbClr val="DCE2D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89520" y="1220724"/>
            <a:ext cx="2468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5E6C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meetup · events near you</a:t>
            </a:r>
            <a:endParaRPr lang="en-US" sz="730" dirty="0"/>
          </a:p>
        </p:txBody>
      </p:sp>
      <p:sp>
        <p:nvSpPr>
          <p:cNvPr id="31" name="Text 29"/>
          <p:cNvSpPr txBox="1"/>
          <p:nvPr/>
        </p:nvSpPr>
        <p:spPr>
          <a:xfrm>
            <a:off x="6419088" y="177393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826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Events near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9235440" y="1810512"/>
            <a:ext cx="621792" cy="310896"/>
          </a:xfrm>
          <a:prstGeom prst="roundRect">
            <a:avLst>
              <a:gd name="adj" fmla="val 38235"/>
            </a:avLst>
          </a:prstGeom>
          <a:solidFill>
            <a:srgbClr val="E0F1F0"/>
          </a:solidFill>
          <a:ln w="12700">
            <a:solidFill>
              <a:srgbClr val="E0F1F0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326880" y="181965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0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9921240" y="1810512"/>
            <a:ext cx="621792" cy="310896"/>
          </a:xfrm>
          <a:prstGeom prst="roundRect">
            <a:avLst>
              <a:gd name="adj" fmla="val 38235"/>
            </a:avLst>
          </a:prstGeom>
          <a:solidFill>
            <a:srgbClr val="FCE9E3"/>
          </a:solidFill>
          <a:ln w="12700">
            <a:solidFill>
              <a:srgbClr val="FCE9E3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012680" y="181965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A942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10607040" y="1810512"/>
            <a:ext cx="704088" cy="310896"/>
          </a:xfrm>
          <a:prstGeom prst="roundRect">
            <a:avLst>
              <a:gd name="adj" fmla="val 38235"/>
            </a:avLst>
          </a:prstGeom>
          <a:solidFill>
            <a:srgbClr val="FFF3C8"/>
          </a:solidFill>
          <a:ln w="12700">
            <a:solidFill>
              <a:srgbClr val="FFF3C8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698480" y="1819656"/>
            <a:ext cx="521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7E62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6382512" y="2395728"/>
            <a:ext cx="484632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8890">
            <a:solidFill>
              <a:srgbClr val="DCE2D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10528" y="2514600"/>
            <a:ext cx="667512" cy="512064"/>
          </a:xfrm>
          <a:prstGeom prst="roundRect">
            <a:avLst>
              <a:gd name="adj" fmla="val 17857"/>
            </a:avLst>
          </a:prstGeom>
          <a:solidFill>
            <a:srgbClr val="FCE9E3"/>
          </a:solidFill>
          <a:ln w="12700">
            <a:solidFill>
              <a:srgbClr val="FCE9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2642616"/>
            <a:ext cx="192024" cy="192024"/>
          </a:xfrm>
          <a:prstGeom prst="ellipse">
            <a:avLst/>
          </a:prstGeom>
          <a:solidFill>
            <a:srgbClr val="F65D5D"/>
          </a:solidFill>
          <a:ln w="12700">
            <a:solidFill>
              <a:srgbClr val="F65D5D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296912" y="25146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82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Creative meetup &amp; coffee</a:t>
            </a:r>
            <a:endParaRPr lang="en-US" sz="1020" dirty="0"/>
          </a:p>
        </p:txBody>
      </p:sp>
      <p:sp>
        <p:nvSpPr>
          <p:cNvPr id="42" name="Text 40"/>
          <p:cNvSpPr txBox="1"/>
          <p:nvPr/>
        </p:nvSpPr>
        <p:spPr>
          <a:xfrm>
            <a:off x="7296912" y="2807208"/>
            <a:ext cx="3611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E6C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 · 2:00 PM  ·  Social Activities</a:t>
            </a:r>
            <a:endParaRPr lang="en-US" sz="760" dirty="0"/>
          </a:p>
        </p:txBody>
      </p:sp>
      <p:sp>
        <p:nvSpPr>
          <p:cNvPr id="43" name="Shape 41"/>
          <p:cNvSpPr/>
          <p:nvPr/>
        </p:nvSpPr>
        <p:spPr>
          <a:xfrm>
            <a:off x="10826496" y="2642616"/>
            <a:ext cx="228600" cy="228600"/>
          </a:xfrm>
          <a:prstGeom prst="ellipse">
            <a:avLst/>
          </a:prstGeom>
          <a:solidFill>
            <a:srgbClr val="E0F1F0"/>
          </a:solidFill>
          <a:ln w="12700">
            <a:solidFill>
              <a:srgbClr val="E0F1F0">
                <a:alpha val="0"/>
              </a:srgbClr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844784" y="264261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↗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82512" y="3319272"/>
            <a:ext cx="484632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8890">
            <a:solidFill>
              <a:srgbClr val="DCE2D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10528" y="3438144"/>
            <a:ext cx="667512" cy="512064"/>
          </a:xfrm>
          <a:prstGeom prst="roundRect">
            <a:avLst>
              <a:gd name="adj" fmla="val 17857"/>
            </a:avLst>
          </a:prstGeom>
          <a:solidFill>
            <a:srgbClr val="E0F1F0"/>
          </a:solidFill>
          <a:ln w="12700">
            <a:solidFill>
              <a:srgbClr val="E0F1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39128" y="3566160"/>
            <a:ext cx="192024" cy="192024"/>
          </a:xfrm>
          <a:prstGeom prst="ellipse">
            <a:avLst/>
          </a:prstGeom>
          <a:solidFill>
            <a:srgbClr val="008894"/>
          </a:solidFill>
          <a:ln w="12700">
            <a:solidFill>
              <a:srgbClr val="008894">
                <a:alpha val="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296912" y="34381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82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and automation workshop</a:t>
            </a:r>
            <a:endParaRPr lang="en-US" sz="1020" dirty="0"/>
          </a:p>
        </p:txBody>
      </p:sp>
      <p:sp>
        <p:nvSpPr>
          <p:cNvPr id="49" name="Text 47"/>
          <p:cNvSpPr txBox="1"/>
          <p:nvPr/>
        </p:nvSpPr>
        <p:spPr>
          <a:xfrm>
            <a:off x="7296912" y="3730752"/>
            <a:ext cx="3611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E6C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SUN · 11:00 AM  ·  Technology</a:t>
            </a:r>
            <a:endParaRPr lang="en-US" sz="760" dirty="0"/>
          </a:p>
        </p:txBody>
      </p:sp>
      <p:sp>
        <p:nvSpPr>
          <p:cNvPr id="50" name="Shape 48"/>
          <p:cNvSpPr/>
          <p:nvPr/>
        </p:nvSpPr>
        <p:spPr>
          <a:xfrm>
            <a:off x="10826496" y="3566160"/>
            <a:ext cx="228600" cy="228600"/>
          </a:xfrm>
          <a:prstGeom prst="ellipse">
            <a:avLst/>
          </a:prstGeom>
          <a:solidFill>
            <a:srgbClr val="E0F1F0"/>
          </a:solidFill>
          <a:ln w="12700">
            <a:solidFill>
              <a:srgbClr val="E0F1F0">
                <a:alpha val="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844784" y="356616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↗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382512" y="4242816"/>
            <a:ext cx="484632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8890">
            <a:solidFill>
              <a:srgbClr val="DCE2D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510528" y="4361688"/>
            <a:ext cx="667512" cy="512064"/>
          </a:xfrm>
          <a:prstGeom prst="roundRect">
            <a:avLst>
              <a:gd name="adj" fmla="val 17857"/>
            </a:avLst>
          </a:prstGeom>
          <a:solidFill>
            <a:srgbClr val="FFF3C8"/>
          </a:solidFill>
          <a:ln w="12700">
            <a:solidFill>
              <a:srgbClr val="FFF3C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39128" y="4489704"/>
            <a:ext cx="192024" cy="192024"/>
          </a:xfrm>
          <a:prstGeom prst="ellipse">
            <a:avLst/>
          </a:prstGeom>
          <a:solidFill>
            <a:srgbClr val="D9B332"/>
          </a:solidFill>
          <a:ln w="12700">
            <a:solidFill>
              <a:srgbClr val="D9B332">
                <a:alpha val="0"/>
              </a:srgbClr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296912" y="43616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82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Weekend book club</a:t>
            </a:r>
            <a:endParaRPr lang="en-US" sz="1020" dirty="0"/>
          </a:p>
        </p:txBody>
      </p:sp>
      <p:sp>
        <p:nvSpPr>
          <p:cNvPr id="56" name="Text 54"/>
          <p:cNvSpPr txBox="1"/>
          <p:nvPr/>
        </p:nvSpPr>
        <p:spPr>
          <a:xfrm>
            <a:off x="7296912" y="4654296"/>
            <a:ext cx="3611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E6C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 · 6:30 PM  ·  Hobbies</a:t>
            </a:r>
            <a:endParaRPr lang="en-US" sz="760" dirty="0"/>
          </a:p>
        </p:txBody>
      </p:sp>
      <p:sp>
        <p:nvSpPr>
          <p:cNvPr id="57" name="Shape 55"/>
          <p:cNvSpPr/>
          <p:nvPr/>
        </p:nvSpPr>
        <p:spPr>
          <a:xfrm>
            <a:off x="10826496" y="4489704"/>
            <a:ext cx="228600" cy="228600"/>
          </a:xfrm>
          <a:prstGeom prst="ellipse">
            <a:avLst/>
          </a:prstGeom>
          <a:solidFill>
            <a:srgbClr val="E0F1F0"/>
          </a:solidFill>
          <a:ln w="12700">
            <a:solidFill>
              <a:srgbClr val="E0F1F0">
                <a:alpha val="0"/>
              </a:srgbClr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0844784" y="448970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↗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9601200" y="4846320"/>
            <a:ext cx="1417320" cy="576072"/>
          </a:xfrm>
          <a:prstGeom prst="roundRect">
            <a:avLst>
              <a:gd name="adj" fmla="val 19048"/>
            </a:avLst>
          </a:prstGeom>
          <a:solidFill>
            <a:srgbClr val="23333A"/>
          </a:solidFill>
          <a:ln w="12700">
            <a:solidFill>
              <a:srgbClr val="23333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692640" y="4946904"/>
            <a:ext cx="1234440" cy="338328"/>
          </a:xfrm>
          <a:prstGeom prst="roundRect">
            <a:avLst>
              <a:gd name="adj" fmla="val 189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784080" y="5020056"/>
            <a:ext cx="411480" cy="64008"/>
          </a:xfrm>
          <a:prstGeom prst="roundRect">
            <a:avLst>
              <a:gd name="adj" fmla="val 42857"/>
            </a:avLst>
          </a:prstGeom>
          <a:solidFill>
            <a:srgbClr val="F65D5D"/>
          </a:solidFill>
          <a:ln w="12700">
            <a:solidFill>
              <a:srgbClr val="F65D5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784080" y="5120640"/>
            <a:ext cx="896112" cy="45720"/>
          </a:xfrm>
          <a:prstGeom prst="roundRect">
            <a:avLst>
              <a:gd name="adj" fmla="val 40000"/>
            </a:avLst>
          </a:prstGeom>
          <a:solidFill>
            <a:srgbClr val="AAB6B4"/>
          </a:solidFill>
          <a:ln w="12700">
            <a:solidFill>
              <a:srgbClr val="AAB6B4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446520" y="51755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E6C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+ mobile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16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384048"/>
            <a:ext cx="1600200" cy="301752"/>
          </a:xfrm>
          <a:prstGeom prst="roundRect">
            <a:avLst>
              <a:gd name="adj" fmla="val 39394"/>
            </a:avLst>
          </a:prstGeom>
          <a:solidFill>
            <a:srgbClr val="E0F1F0"/>
          </a:solidFill>
          <a:ln w="12700">
            <a:solidFill>
              <a:srgbClr val="E0F1F0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68096" y="397764"/>
            <a:ext cx="13807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spc="120" kern="0" dirty="0">
                <a:solidFill>
                  <a:srgbClr val="00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РЕФЛЕКСИЯ · 01</a:t>
            </a:r>
            <a:endParaRPr lang="en-US" sz="86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04672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826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мне понравилось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380744"/>
            <a:ext cx="10744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E6C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Больше всего радовал момент, когда макет превращался в работающий интерфейс.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58368" y="2011680"/>
            <a:ext cx="3364992" cy="2423160"/>
          </a:xfrm>
          <a:prstGeom prst="roundRect">
            <a:avLst>
              <a:gd name="adj" fmla="val 6792"/>
            </a:avLst>
          </a:prstGeom>
          <a:solidFill>
            <a:srgbClr val="FFFFFF"/>
          </a:solidFill>
          <a:ln w="11430">
            <a:solidFill>
              <a:srgbClr val="DCE2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2249424"/>
            <a:ext cx="521208" cy="521208"/>
          </a:xfrm>
          <a:prstGeom prst="roundRect">
            <a:avLst>
              <a:gd name="adj" fmla="val 28070"/>
            </a:avLst>
          </a:prstGeom>
          <a:solidFill>
            <a:srgbClr val="E0F1F0"/>
          </a:solidFill>
          <a:ln w="12700">
            <a:solidFill>
              <a:srgbClr val="E0F1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238658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8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297180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26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Видеть результат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3483864"/>
            <a:ext cx="28895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5E6C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Из статичного макета получились две связанные страницы, которые можно открыть и протестировать.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4407408" y="2011680"/>
            <a:ext cx="3364992" cy="2423160"/>
          </a:xfrm>
          <a:prstGeom prst="roundRect">
            <a:avLst>
              <a:gd name="adj" fmla="val 6792"/>
            </a:avLst>
          </a:prstGeom>
          <a:solidFill>
            <a:srgbClr val="FFFFFF"/>
          </a:solidFill>
          <a:ln w="11430">
            <a:solidFill>
              <a:srgbClr val="DCE2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26864" y="2249424"/>
            <a:ext cx="521208" cy="521208"/>
          </a:xfrm>
          <a:prstGeom prst="roundRect">
            <a:avLst>
              <a:gd name="adj" fmla="val 28070"/>
            </a:avLst>
          </a:prstGeom>
          <a:solidFill>
            <a:srgbClr val="FCE9E3"/>
          </a:solidFill>
          <a:ln w="12700">
            <a:solidFill>
              <a:srgbClr val="FCE9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81728" y="238658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626864" y="297180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26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Добавлять интерактивность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626864" y="3483864"/>
            <a:ext cx="28895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5E6C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Карточки событий создаются через JavaScript, а фильтры меняют список в зависимости от выбора.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8156448" y="2011680"/>
            <a:ext cx="3364992" cy="2423160"/>
          </a:xfrm>
          <a:prstGeom prst="roundRect">
            <a:avLst>
              <a:gd name="adj" fmla="val 6792"/>
            </a:avLst>
          </a:prstGeom>
          <a:solidFill>
            <a:srgbClr val="FFFFFF"/>
          </a:solidFill>
          <a:ln w="11430">
            <a:solidFill>
              <a:srgbClr val="DCE2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75904" y="2249424"/>
            <a:ext cx="521208" cy="521208"/>
          </a:xfrm>
          <a:prstGeom prst="roundRect">
            <a:avLst>
              <a:gd name="adj" fmla="val 28070"/>
            </a:avLst>
          </a:prstGeom>
          <a:solidFill>
            <a:srgbClr val="FFF3C8"/>
          </a:solidFill>
          <a:ln w="12700">
            <a:solidFill>
              <a:srgbClr val="FFF3C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30768" y="238658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18B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375904" y="297180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26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Разобраться с адаптивом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375904" y="3483864"/>
            <a:ext cx="28895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5E6C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Понравилось подгонять интерфейс под разные ширины экрана и видеть, как он перестраивается.</a:t>
            </a:r>
            <a:endParaRPr lang="en-US" sz="1130" dirty="0"/>
          </a:p>
        </p:txBody>
      </p:sp>
      <p:sp>
        <p:nvSpPr>
          <p:cNvPr id="21" name="Text 19"/>
          <p:cNvSpPr txBox="1"/>
          <p:nvPr/>
        </p:nvSpPr>
        <p:spPr>
          <a:xfrm>
            <a:off x="676656" y="4901184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110" kern="0" dirty="0">
                <a:solidFill>
                  <a:srgbClr val="5E6C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МОЙ РАБОЧИЙ ПРОЦЕСС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676656" y="5321808"/>
            <a:ext cx="2011680" cy="530352"/>
          </a:xfrm>
          <a:prstGeom prst="roundRect">
            <a:avLst>
              <a:gd name="adj" fmla="val 27586"/>
            </a:avLst>
          </a:prstGeom>
          <a:solidFill>
            <a:srgbClr val="FCE9E3"/>
          </a:solidFill>
          <a:ln w="12700">
            <a:solidFill>
              <a:srgbClr val="FCE9E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3816" y="54498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942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Макет Figma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834640" y="544982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E6C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3154680" y="5321808"/>
            <a:ext cx="2011680" cy="530352"/>
          </a:xfrm>
          <a:prstGeom prst="roundRect">
            <a:avLst>
              <a:gd name="adj" fmla="val 27586"/>
            </a:avLst>
          </a:prstGeom>
          <a:solidFill>
            <a:srgbClr val="E0F1F0"/>
          </a:solidFill>
          <a:ln w="12700">
            <a:solidFill>
              <a:srgbClr val="E0F1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291840" y="54498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+ CSS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312664" y="544982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E6C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5632704" y="5321808"/>
            <a:ext cx="2011680" cy="530352"/>
          </a:xfrm>
          <a:prstGeom prst="roundRect">
            <a:avLst>
              <a:gd name="adj" fmla="val 27586"/>
            </a:avLst>
          </a:prstGeom>
          <a:solidFill>
            <a:srgbClr val="FFF3C8"/>
          </a:solidFill>
          <a:ln w="12700">
            <a:solidFill>
              <a:srgbClr val="FFF3C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769864" y="54498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E62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790688" y="544982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E6C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8110728" y="5321808"/>
            <a:ext cx="2011680" cy="530352"/>
          </a:xfrm>
          <a:prstGeom prst="roundRect">
            <a:avLst>
              <a:gd name="adj" fmla="val 27586"/>
            </a:avLst>
          </a:prstGeom>
          <a:solidFill>
            <a:srgbClr val="E9E4F9"/>
          </a:solidFill>
          <a:ln w="12700">
            <a:solidFill>
              <a:srgbClr val="E9E4F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47888" y="54498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4B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16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384048"/>
            <a:ext cx="1600200" cy="301752"/>
          </a:xfrm>
          <a:prstGeom prst="roundRect">
            <a:avLst>
              <a:gd name="adj" fmla="val 39394"/>
            </a:avLst>
          </a:prstGeom>
          <a:solidFill>
            <a:srgbClr val="FCE9E3"/>
          </a:solidFill>
          <a:ln w="12700">
            <a:solidFill>
              <a:srgbClr val="FCE9E3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68096" y="397764"/>
            <a:ext cx="13807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spc="120" kern="0" dirty="0">
                <a:solidFill>
                  <a:srgbClr val="A942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РЕФЛЕКСИЯ · 02</a:t>
            </a:r>
            <a:endParaRPr lang="en-US" sz="86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04672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826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мне не понравилось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380744"/>
            <a:ext cx="10744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E6C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 столько сам проект, сколько некоторые моменты в процессе разработки.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58368" y="1993392"/>
            <a:ext cx="10881360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8890">
            <a:solidFill>
              <a:srgbClr val="DCE2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48840"/>
            <a:ext cx="438912" cy="438912"/>
          </a:xfrm>
          <a:prstGeom prst="roundRect">
            <a:avLst>
              <a:gd name="adj" fmla="val 29167"/>
            </a:avLst>
          </a:prstGeom>
          <a:solidFill>
            <a:srgbClr val="FCE9E3"/>
          </a:solidFill>
          <a:ln w="12700">
            <a:solidFill>
              <a:srgbClr val="FCE9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25856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481328" y="2112264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b="1" dirty="0">
                <a:solidFill>
                  <a:srgbClr val="182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Правки по кругу</a:t>
            </a:r>
            <a:endParaRPr lang="en-US" sz="1310" dirty="0"/>
          </a:p>
        </p:txBody>
      </p:sp>
      <p:sp>
        <p:nvSpPr>
          <p:cNvPr id="10" name="Text 8"/>
          <p:cNvSpPr txBox="1"/>
          <p:nvPr/>
        </p:nvSpPr>
        <p:spPr>
          <a:xfrm>
            <a:off x="3877056" y="2112264"/>
            <a:ext cx="7269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E6C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Иногда после изменения одного блока приходилось снова проверять отступы и соседние элементы.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" y="2999232"/>
            <a:ext cx="10881360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8890">
            <a:solidFill>
              <a:srgbClr val="DCE2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154680"/>
            <a:ext cx="438912" cy="438912"/>
          </a:xfrm>
          <a:prstGeom prst="roundRect">
            <a:avLst>
              <a:gd name="adj" fmla="val 29167"/>
            </a:avLst>
          </a:prstGeom>
          <a:solidFill>
            <a:srgbClr val="E0F1F0"/>
          </a:solidFill>
          <a:ln w="12700">
            <a:solidFill>
              <a:srgbClr val="E0F1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326440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88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3118104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b="1" dirty="0">
                <a:solidFill>
                  <a:srgbClr val="182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Неочевидное поведение CSS</a:t>
            </a:r>
            <a:endParaRPr lang="en-US" sz="1310" dirty="0"/>
          </a:p>
        </p:txBody>
      </p:sp>
      <p:sp>
        <p:nvSpPr>
          <p:cNvPr id="15" name="Text 13"/>
          <p:cNvSpPr txBox="1"/>
          <p:nvPr/>
        </p:nvSpPr>
        <p:spPr>
          <a:xfrm>
            <a:off x="3877056" y="3118104"/>
            <a:ext cx="7269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E6C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Когда несколько правил влияют на один элемент, не сразу понятно, какое из них задаёт итоговый вид.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" y="4005072"/>
            <a:ext cx="10881360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8890">
            <a:solidFill>
              <a:srgbClr val="DCE2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160520"/>
            <a:ext cx="438912" cy="438912"/>
          </a:xfrm>
          <a:prstGeom prst="roundRect">
            <a:avLst>
              <a:gd name="adj" fmla="val 29167"/>
            </a:avLst>
          </a:prstGeom>
          <a:solidFill>
            <a:srgbClr val="FFF3C8"/>
          </a:solidFill>
          <a:ln w="12700">
            <a:solidFill>
              <a:srgbClr val="FFF3C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27024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18B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481328" y="4123944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b="1" dirty="0">
                <a:solidFill>
                  <a:srgbClr val="182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Устаревшие даты в данных</a:t>
            </a:r>
            <a:endParaRPr lang="en-US" sz="1310" dirty="0"/>
          </a:p>
        </p:txBody>
      </p:sp>
      <p:sp>
        <p:nvSpPr>
          <p:cNvPr id="20" name="Text 18"/>
          <p:cNvSpPr txBox="1"/>
          <p:nvPr/>
        </p:nvSpPr>
        <p:spPr>
          <a:xfrm>
            <a:off x="3877056" y="4123944"/>
            <a:ext cx="7269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E6C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Старые даты мероприятий мешали корректно проверять фильтры «Сегодня» и «На этой неделе».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" y="5230368"/>
            <a:ext cx="10881360" cy="658368"/>
          </a:xfrm>
          <a:prstGeom prst="roundRect">
            <a:avLst>
              <a:gd name="adj" fmla="val 20833"/>
            </a:avLst>
          </a:prstGeom>
          <a:solidFill>
            <a:srgbClr val="23333A"/>
          </a:solidFill>
          <a:ln w="12700">
            <a:solidFill>
              <a:srgbClr val="2333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96112" y="540410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7D2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 следующий раз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432304" y="5340096"/>
            <a:ext cx="8732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раньше проверю структуру CSS и тестовые сценарии, чтобы меньше возвращаться к одним и тем же правкам.</a:t>
            </a:r>
            <a:endParaRPr lang="en-US" sz="11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16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384048"/>
            <a:ext cx="1600200" cy="301752"/>
          </a:xfrm>
          <a:prstGeom prst="roundRect">
            <a:avLst>
              <a:gd name="adj" fmla="val 39394"/>
            </a:avLst>
          </a:prstGeom>
          <a:solidFill>
            <a:srgbClr val="FFF3C8"/>
          </a:solidFill>
          <a:ln w="12700">
            <a:solidFill>
              <a:srgbClr val="FFF3C8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68096" y="397764"/>
            <a:ext cx="13807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spc="120" kern="0" dirty="0">
                <a:solidFill>
                  <a:srgbClr val="7E62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РЕФЛЕКСИЯ · 03</a:t>
            </a:r>
            <a:endParaRPr lang="en-US" sz="86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04672"/>
            <a:ext cx="10881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826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было трудно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380744"/>
            <a:ext cx="10744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E6C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Сложнее всего было совместить точность макета, адаптивность и работающую логику.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58368" y="1993392"/>
            <a:ext cx="3401568" cy="1993392"/>
          </a:xfrm>
          <a:prstGeom prst="roundRect">
            <a:avLst>
              <a:gd name="adj" fmla="val 8257"/>
            </a:avLst>
          </a:prstGeom>
          <a:solidFill>
            <a:srgbClr val="FFFFFF"/>
          </a:solidFill>
          <a:ln w="11430">
            <a:solidFill>
              <a:srgbClr val="DCE2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6968" y="2231136"/>
            <a:ext cx="438912" cy="438912"/>
          </a:xfrm>
          <a:prstGeom prst="ellipse">
            <a:avLst/>
          </a:prstGeom>
          <a:solidFill>
            <a:srgbClr val="E0F1F0"/>
          </a:solidFill>
          <a:ln w="12700">
            <a:solidFill>
              <a:srgbClr val="E0F1F0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235000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8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86968" y="2816352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26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Адаптивная вёрстка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86968" y="3255264"/>
            <a:ext cx="2944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6C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Подстроить блоки под разные размеры экрана и сохранить аккуратные отступы на всех брейкпоинтах.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389120" y="1993392"/>
            <a:ext cx="3401568" cy="1993392"/>
          </a:xfrm>
          <a:prstGeom prst="roundRect">
            <a:avLst>
              <a:gd name="adj" fmla="val 8257"/>
            </a:avLst>
          </a:prstGeom>
          <a:solidFill>
            <a:srgbClr val="FFFFFF"/>
          </a:solidFill>
          <a:ln w="11430">
            <a:solidFill>
              <a:srgbClr val="DCE2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2231136"/>
            <a:ext cx="438912" cy="438912"/>
          </a:xfrm>
          <a:prstGeom prst="ellipse">
            <a:avLst/>
          </a:prstGeom>
          <a:solidFill>
            <a:srgbClr val="FCE9E3"/>
          </a:solidFill>
          <a:ln w="12700">
            <a:solidFill>
              <a:srgbClr val="FCE9E3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35000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65D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816352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26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Фильтрация событий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3255264"/>
            <a:ext cx="2944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6C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Связать дату, тип, расстояние и категорию так, чтобы условия работали вместе.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8119872" y="1993392"/>
            <a:ext cx="3401568" cy="1993392"/>
          </a:xfrm>
          <a:prstGeom prst="roundRect">
            <a:avLst>
              <a:gd name="adj" fmla="val 8257"/>
            </a:avLst>
          </a:prstGeom>
          <a:solidFill>
            <a:srgbClr val="FFFFFF"/>
          </a:solidFill>
          <a:ln w="11430">
            <a:solidFill>
              <a:srgbClr val="DCE2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48472" y="2231136"/>
            <a:ext cx="438912" cy="438912"/>
          </a:xfrm>
          <a:prstGeom prst="ellipse">
            <a:avLst/>
          </a:prstGeom>
          <a:solidFill>
            <a:srgbClr val="FFF3C8"/>
          </a:solidFill>
          <a:ln w="12700">
            <a:solidFill>
              <a:srgbClr val="FFF3C8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94192" y="235000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18B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348472" y="2816352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26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Поиск причины бага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348472" y="3255264"/>
            <a:ext cx="2944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E6C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Понять, почему карточки не скрывались, хотя обработчик фильтров уже был подключён.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58368" y="4325112"/>
            <a:ext cx="10881360" cy="694944"/>
          </a:xfrm>
          <a:prstGeom prst="roundRect">
            <a:avLst>
              <a:gd name="adj" fmla="val 18421"/>
            </a:avLst>
          </a:prstGeom>
          <a:solidFill>
            <a:srgbClr val="FCE9E3"/>
          </a:solidFill>
          <a:ln w="12700">
            <a:solidFill>
              <a:srgbClr val="FCE9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96112" y="448970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A942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Пример отладки</a:t>
            </a:r>
            <a:endParaRPr lang="en-US" sz="1070" dirty="0"/>
          </a:p>
        </p:txBody>
      </p:sp>
      <p:sp>
        <p:nvSpPr>
          <p:cNvPr id="23" name="Shape 21"/>
          <p:cNvSpPr/>
          <p:nvPr/>
        </p:nvSpPr>
        <p:spPr>
          <a:xfrm>
            <a:off x="2542032" y="4489704"/>
            <a:ext cx="1298448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633472" y="4544568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82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hidden = true</a:t>
            </a:r>
            <a:endParaRPr lang="en-US" sz="940" dirty="0"/>
          </a:p>
        </p:txBody>
      </p:sp>
      <p:sp>
        <p:nvSpPr>
          <p:cNvPr id="25" name="Text 23"/>
          <p:cNvSpPr txBox="1"/>
          <p:nvPr/>
        </p:nvSpPr>
        <p:spPr>
          <a:xfrm>
            <a:off x="3913632" y="452628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6C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169664" y="4489704"/>
            <a:ext cx="146304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251960" y="4544568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826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display: grid</a:t>
            </a:r>
            <a:endParaRPr lang="en-US" sz="940" dirty="0"/>
          </a:p>
        </p:txBody>
      </p:sp>
      <p:sp>
        <p:nvSpPr>
          <p:cNvPr id="28" name="Text 26"/>
          <p:cNvSpPr txBox="1"/>
          <p:nvPr/>
        </p:nvSpPr>
        <p:spPr>
          <a:xfrm>
            <a:off x="5751576" y="4517136"/>
            <a:ext cx="246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108192" y="4489704"/>
            <a:ext cx="2670048" cy="310896"/>
          </a:xfrm>
          <a:prstGeom prst="roundRect">
            <a:avLst>
              <a:gd name="adj" fmla="val 26471"/>
            </a:avLst>
          </a:prstGeom>
          <a:solidFill>
            <a:srgbClr val="008894"/>
          </a:solidFill>
          <a:ln w="12700">
            <a:solidFill>
              <a:srgbClr val="00889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17920" y="4544568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display: none !important</a:t>
            </a:r>
            <a:endParaRPr lang="en-US" sz="910" dirty="0"/>
          </a:p>
        </p:txBody>
      </p:sp>
      <p:sp>
        <p:nvSpPr>
          <p:cNvPr id="31" name="Text 29"/>
          <p:cNvSpPr txBox="1"/>
          <p:nvPr/>
        </p:nvSpPr>
        <p:spPr>
          <a:xfrm>
            <a:off x="8997696" y="4489704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00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Конфликт CSS найден и исправлен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658368" y="5266944"/>
            <a:ext cx="10881360" cy="704088"/>
          </a:xfrm>
          <a:prstGeom prst="roundRect">
            <a:avLst>
              <a:gd name="adj" fmla="val 19481"/>
            </a:avLst>
          </a:prstGeom>
          <a:solidFill>
            <a:srgbClr val="23333A"/>
          </a:solidFill>
          <a:ln w="12700">
            <a:solidFill>
              <a:srgbClr val="23333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96112" y="5440680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7D2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Главный вывод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2377440" y="5394960"/>
            <a:ext cx="8732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Я научилась проверять проблему по шагам: DOM → обработчики событий → вычисленные CSS-стили.</a:t>
            </a:r>
            <a:endParaRPr lang="en-US" sz="11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16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colorful_cozy_playful_end_of_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Meetup Project</dc:title>
  <dc:subject>Meetup Project: краткая презентация учебного проекта</dc:subject>
  <dc:creator>OpenAI</dc:creator>
  <cp:lastModifiedBy>OpenAI</cp:lastModifiedBy>
  <cp:revision>1</cp:revision>
  <dcterms:created xsi:type="dcterms:W3CDTF">2026-10-22T19:24:20Z</dcterms:created>
  <dcterms:modified xsi:type="dcterms:W3CDTF">2026-10-22T19:24:20Z</dcterms:modified>
</cp:coreProperties>
</file>